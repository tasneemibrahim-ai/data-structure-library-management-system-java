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28" r:id="rId2"/>
    <p:sldId id="329" r:id="rId3"/>
    <p:sldId id="327" r:id="rId4"/>
    <p:sldId id="257" r:id="rId5"/>
    <p:sldId id="258" r:id="rId6"/>
    <p:sldId id="259" r:id="rId7"/>
    <p:sldId id="260" r:id="rId8"/>
    <p:sldId id="261" r:id="rId9"/>
    <p:sldId id="330" r:id="rId10"/>
    <p:sldId id="263" r:id="rId11"/>
    <p:sldId id="264" r:id="rId12"/>
    <p:sldId id="265" r:id="rId13"/>
    <p:sldId id="266" r:id="rId14"/>
    <p:sldId id="331" r:id="rId15"/>
    <p:sldId id="270" r:id="rId16"/>
    <p:sldId id="271" r:id="rId17"/>
    <p:sldId id="272" r:id="rId18"/>
    <p:sldId id="273" r:id="rId19"/>
    <p:sldId id="274" r:id="rId20"/>
    <p:sldId id="332" r:id="rId21"/>
    <p:sldId id="278" r:id="rId22"/>
    <p:sldId id="279" r:id="rId23"/>
    <p:sldId id="280" r:id="rId24"/>
    <p:sldId id="281" r:id="rId25"/>
    <p:sldId id="282" r:id="rId26"/>
    <p:sldId id="283" r:id="rId27"/>
    <p:sldId id="284" r:id="rId28"/>
    <p:sldId id="285" r:id="rId29"/>
    <p:sldId id="333" r:id="rId30"/>
    <p:sldId id="288" r:id="rId31"/>
    <p:sldId id="289" r:id="rId32"/>
    <p:sldId id="290" r:id="rId33"/>
    <p:sldId id="291" r:id="rId34"/>
    <p:sldId id="292" r:id="rId35"/>
    <p:sldId id="334" r:id="rId36"/>
    <p:sldId id="295" r:id="rId37"/>
    <p:sldId id="296" r:id="rId38"/>
    <p:sldId id="335" r:id="rId39"/>
    <p:sldId id="303" r:id="rId40"/>
    <p:sldId id="337" r:id="rId41"/>
    <p:sldId id="305" r:id="rId42"/>
    <p:sldId id="306" r:id="rId43"/>
    <p:sldId id="338" r:id="rId44"/>
    <p:sldId id="308" r:id="rId45"/>
    <p:sldId id="339" r:id="rId46"/>
    <p:sldId id="310" r:id="rId47"/>
    <p:sldId id="340" r:id="rId48"/>
    <p:sldId id="312" r:id="rId49"/>
    <p:sldId id="313" r:id="rId50"/>
    <p:sldId id="341" r:id="rId51"/>
    <p:sldId id="315" r:id="rId52"/>
    <p:sldId id="317" r:id="rId53"/>
    <p:sldId id="31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F4B17AA-A04A-4A7D-A414-9D0F5D4FC7CF}"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4DE0C-D8ED-48AF-89F1-CF748BC00C0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921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4B17AA-A04A-4A7D-A414-9D0F5D4FC7CF}"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3191441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F4B17AA-A04A-4A7D-A414-9D0F5D4FC7CF}"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4DE0C-D8ED-48AF-89F1-CF748BC00C0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77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F4B17AA-A04A-4A7D-A414-9D0F5D4FC7CF}" type="datetimeFigureOut">
              <a:rPr lang="en-US" smtClean="0"/>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132433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F4B17AA-A04A-4A7D-A414-9D0F5D4FC7CF}" type="datetimeFigureOut">
              <a:rPr lang="en-US" smtClean="0"/>
              <a:t>12/25/2023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1227910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F4B17AA-A04A-4A7D-A414-9D0F5D4FC7CF}" type="datetimeFigureOut">
              <a:rPr lang="en-US" smtClean="0"/>
              <a:t>12/25/2023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363851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F4B17AA-A04A-4A7D-A414-9D0F5D4FC7CF}" type="datetimeFigureOut">
              <a:rPr lang="en-US" smtClean="0"/>
              <a:t>12/25/2023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950291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F4B17AA-A04A-4A7D-A414-9D0F5D4FC7CF}" type="datetimeFigureOut">
              <a:rPr lang="en-US" smtClean="0"/>
              <a:t>12/25/2023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FC4DE0C-D8ED-48AF-89F1-CF748BC00C09}" type="slidenum">
              <a:rPr lang="en-US" smtClean="0"/>
              <a:t>‹#›</a:t>
            </a:fld>
            <a:endParaRPr lang="en-US"/>
          </a:p>
        </p:txBody>
      </p:sp>
    </p:spTree>
    <p:extLst>
      <p:ext uri="{BB962C8B-B14F-4D97-AF65-F5344CB8AC3E}">
        <p14:creationId xmlns:p14="http://schemas.microsoft.com/office/powerpoint/2010/main" val="1480639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F4B17AA-A04A-4A7D-A414-9D0F5D4FC7CF}" type="datetimeFigureOut">
              <a:rPr lang="en-US" smtClean="0"/>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2766365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4B17AA-A04A-4A7D-A414-9D0F5D4FC7CF}"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3848186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4B17AA-A04A-4A7D-A414-9D0F5D4FC7CF}"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C4DE0C-D8ED-48AF-89F1-CF748BC00C09}" type="slidenum">
              <a:rPr lang="en-US" smtClean="0"/>
              <a:t>‹#›</a:t>
            </a:fld>
            <a:endParaRPr lang="en-US"/>
          </a:p>
        </p:txBody>
      </p:sp>
    </p:spTree>
    <p:extLst>
      <p:ext uri="{BB962C8B-B14F-4D97-AF65-F5344CB8AC3E}">
        <p14:creationId xmlns:p14="http://schemas.microsoft.com/office/powerpoint/2010/main" val="3626477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F4B17AA-A04A-4A7D-A414-9D0F5D4FC7CF}" type="datetimeFigureOut">
              <a:rPr lang="en-US" smtClean="0"/>
              <a:t>12/25/2023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FC4DE0C-D8ED-48AF-89F1-CF748BC00C0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5398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Data structure project report</a:t>
            </a:r>
            <a:endParaRPr lang="en-US" b="1" dirty="0"/>
          </a:p>
        </p:txBody>
      </p:sp>
      <p:sp>
        <p:nvSpPr>
          <p:cNvPr id="3" name="Subtitle 2"/>
          <p:cNvSpPr>
            <a:spLocks noGrp="1"/>
          </p:cNvSpPr>
          <p:nvPr>
            <p:ph type="subTitle" idx="1"/>
          </p:nvPr>
        </p:nvSpPr>
        <p:spPr/>
        <p:txBody>
          <a:bodyPr/>
          <a:lstStyle/>
          <a:p>
            <a:r>
              <a:rPr lang="en-US" b="1" dirty="0" smtClean="0"/>
              <a:t>Library </a:t>
            </a:r>
            <a:r>
              <a:rPr lang="en-US" b="1" dirty="0" err="1" smtClean="0"/>
              <a:t>Manegement</a:t>
            </a:r>
            <a:r>
              <a:rPr lang="en-US" b="1" dirty="0" smtClean="0"/>
              <a:t> System</a:t>
            </a:r>
            <a:endParaRPr lang="en-US" b="1" dirty="0"/>
          </a:p>
        </p:txBody>
      </p:sp>
    </p:spTree>
    <p:extLst>
      <p:ext uri="{BB962C8B-B14F-4D97-AF65-F5344CB8AC3E}">
        <p14:creationId xmlns:p14="http://schemas.microsoft.com/office/powerpoint/2010/main" val="3834293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Book class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Book class in Java represents a book within a library system. It encapsulates various attributes of a book, such as its title, author name, category, ISBN, publication year, number of available copies, </a:t>
            </a:r>
            <a:r>
              <a:rPr lang="en-US" dirty="0" err="1"/>
              <a:t>borrowability</a:t>
            </a:r>
            <a:r>
              <a:rPr lang="en-US" dirty="0"/>
              <a:t> status, price, and due date. The class provides multiple constructors to accommodate different scenarios of creating a book object. It also includes getter and setter methods for accessing and modifying the book's attributes, facilitating proper encapsulation.</a:t>
            </a:r>
          </a:p>
          <a:p>
            <a:endParaRPr lang="en-US" dirty="0"/>
          </a:p>
          <a:p>
            <a:r>
              <a:rPr lang="en-US" dirty="0"/>
              <a:t>Additionally, the class overrides the </a:t>
            </a:r>
            <a:r>
              <a:rPr lang="en-US" dirty="0" err="1"/>
              <a:t>toString</a:t>
            </a:r>
            <a:r>
              <a:rPr lang="en-US" dirty="0"/>
              <a:t> method to provide a formatted string representation of a book's details, and the equals method to compare books for equality based on their attributes. The </a:t>
            </a:r>
            <a:r>
              <a:rPr lang="en-US" dirty="0" err="1"/>
              <a:t>DisplayBook</a:t>
            </a:r>
            <a:r>
              <a:rPr lang="en-US" dirty="0"/>
              <a:t> method offers a concise display of essential book information.</a:t>
            </a:r>
          </a:p>
          <a:p>
            <a:endParaRPr lang="en-US" dirty="0"/>
          </a:p>
          <a:p>
            <a:r>
              <a:rPr lang="en-US" dirty="0"/>
              <a:t>One notable aspect is the use of the </a:t>
            </a:r>
            <a:r>
              <a:rPr lang="en-US" dirty="0" err="1"/>
              <a:t>LocalDate</a:t>
            </a:r>
            <a:r>
              <a:rPr lang="en-US" dirty="0"/>
              <a:t> class for representing the due date, providing support for modern date handling in Java. The </a:t>
            </a:r>
            <a:r>
              <a:rPr lang="en-US" dirty="0" err="1"/>
              <a:t>setPrice</a:t>
            </a:r>
            <a:r>
              <a:rPr lang="en-US" dirty="0"/>
              <a:t> method, marked with </a:t>
            </a:r>
            <a:r>
              <a:rPr lang="en-US" dirty="0" err="1"/>
              <a:t>UnsupportedOperationException</a:t>
            </a:r>
            <a:r>
              <a:rPr lang="en-US" dirty="0"/>
              <a:t>, indicates that the price setting operation is not supported, potentially intended for future modifications or restrictions in the class behavior. Overall, the Book class serves as a flexible and comprehensive model for managing book data within a library system.</a:t>
            </a:r>
          </a:p>
          <a:p>
            <a:endParaRPr lang="en-US" dirty="0"/>
          </a:p>
        </p:txBody>
      </p:sp>
    </p:spTree>
    <p:extLst>
      <p:ext uri="{BB962C8B-B14F-4D97-AF65-F5344CB8AC3E}">
        <p14:creationId xmlns:p14="http://schemas.microsoft.com/office/powerpoint/2010/main" val="1637566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566538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7099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33029"/>
            <a:ext cx="10515600" cy="4351338"/>
          </a:xfrm>
        </p:spPr>
        <p:txBody>
          <a:bodyPr/>
          <a:lstStyle/>
          <a:p>
            <a:endParaRPr lang="en-US" dirty="0"/>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30672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997365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04841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844657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Catalog class</a:t>
            </a:r>
            <a:endParaRPr lang="en-US" dirty="0"/>
          </a:p>
        </p:txBody>
      </p:sp>
      <p:sp>
        <p:nvSpPr>
          <p:cNvPr id="3" name="Content Placeholder 2"/>
          <p:cNvSpPr>
            <a:spLocks noGrp="1"/>
          </p:cNvSpPr>
          <p:nvPr>
            <p:ph idx="1"/>
          </p:nvPr>
        </p:nvSpPr>
        <p:spPr/>
        <p:txBody>
          <a:bodyPr/>
          <a:lstStyle/>
          <a:p>
            <a:r>
              <a:rPr lang="en-US" dirty="0"/>
              <a:t>The Catalog class in Java serves as a catalog for managing books in a library system. It contains an inner class named catalog that encapsulates the functionality of the catalog. The catalog maintains a linked list of Book objects, and the class provides methods for adding a book (</a:t>
            </a:r>
            <a:r>
              <a:rPr lang="en-US" dirty="0" err="1"/>
              <a:t>addBook</a:t>
            </a:r>
            <a:r>
              <a:rPr lang="en-US" dirty="0"/>
              <a:t>), updating book details both in-memory and in the connected database (</a:t>
            </a:r>
            <a:r>
              <a:rPr lang="en-US" dirty="0" err="1"/>
              <a:t>updateBookDetails</a:t>
            </a:r>
            <a:r>
              <a:rPr lang="en-US" dirty="0"/>
              <a:t>), and searching for a book by its ISBN (</a:t>
            </a:r>
            <a:r>
              <a:rPr lang="en-US" dirty="0" err="1"/>
              <a:t>searchBook</a:t>
            </a:r>
            <a:r>
              <a:rPr lang="en-US" dirty="0"/>
              <a:t>). The in-memory catalog enables efficient retrieval and manipulation of book data, and the </a:t>
            </a:r>
            <a:r>
              <a:rPr lang="en-US" dirty="0" err="1"/>
              <a:t>updateBookDetails</a:t>
            </a:r>
            <a:r>
              <a:rPr lang="en-US" dirty="0"/>
              <a:t> method ensures synchronization of changes between the in-memory catalog and the underlying database. The database connection is established using JDBC with connection details specified in constants (URL, USER, PASSWORD). Additional methods can be added to the catalog class as needed, providing a modular and organized structure for managing book-related operations within the library system.</a:t>
            </a:r>
          </a:p>
          <a:p>
            <a:endParaRPr lang="en-US" dirty="0"/>
          </a:p>
        </p:txBody>
      </p:sp>
    </p:spTree>
    <p:extLst>
      <p:ext uri="{BB962C8B-B14F-4D97-AF65-F5344CB8AC3E}">
        <p14:creationId xmlns:p14="http://schemas.microsoft.com/office/powerpoint/2010/main" val="354989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84800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92064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509873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4180753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connection</a:t>
            </a:r>
            <a:endParaRPr lang="en-US" dirty="0"/>
          </a:p>
        </p:txBody>
      </p:sp>
      <p:sp>
        <p:nvSpPr>
          <p:cNvPr id="3" name="Content Placeholder 2"/>
          <p:cNvSpPr>
            <a:spLocks noGrp="1"/>
          </p:cNvSpPr>
          <p:nvPr>
            <p:ph idx="1"/>
          </p:nvPr>
        </p:nvSpPr>
        <p:spPr/>
        <p:txBody>
          <a:bodyPr/>
          <a:lstStyle/>
          <a:p>
            <a:r>
              <a:rPr lang="en-US" dirty="0"/>
              <a:t>The </a:t>
            </a:r>
            <a:r>
              <a:rPr lang="en-US" dirty="0" err="1"/>
              <a:t>DataBase</a:t>
            </a:r>
            <a:r>
              <a:rPr lang="en-US" dirty="0"/>
              <a:t> class in Java serves as a utility class for handling database operations related to the library project. It establishes a connection to a MySQL database using JDBC and provides methods for inserting new book records (</a:t>
            </a:r>
            <a:r>
              <a:rPr lang="en-US" dirty="0" err="1"/>
              <a:t>Insert_into_books_table</a:t>
            </a:r>
            <a:r>
              <a:rPr lang="en-US" dirty="0"/>
              <a:t>), updating book details (</a:t>
            </a:r>
            <a:r>
              <a:rPr lang="en-US" dirty="0" err="1"/>
              <a:t>updateBookDetailsInDatabase</a:t>
            </a:r>
            <a:r>
              <a:rPr lang="en-US" dirty="0"/>
              <a:t>), and deleting books from the database (</a:t>
            </a:r>
            <a:r>
              <a:rPr lang="en-US" dirty="0" err="1"/>
              <a:t>deleteBookFromDatabase</a:t>
            </a:r>
            <a:r>
              <a:rPr lang="en-US" dirty="0"/>
              <a:t>). The class follows the singleton pattern by maintaining a single static connection instance to the database throughout its lifecycle, ensuring efficiency in resource usage. The </a:t>
            </a:r>
            <a:r>
              <a:rPr lang="en-US" dirty="0" err="1"/>
              <a:t>getConnection</a:t>
            </a:r>
            <a:r>
              <a:rPr lang="en-US" dirty="0"/>
              <a:t> method returns the existing connection or creates a new one if it doesn't exist, and the </a:t>
            </a:r>
            <a:r>
              <a:rPr lang="en-US" dirty="0" err="1"/>
              <a:t>closeConnection</a:t>
            </a:r>
            <a:r>
              <a:rPr lang="en-US" dirty="0"/>
              <a:t> method allows for closing the database connection when necessary. Overall, the class encapsulates database interactions specific to the library system, promoting modular and organized code for database-related tasks.</a:t>
            </a:r>
          </a:p>
          <a:p>
            <a:endParaRPr lang="en-US" dirty="0"/>
          </a:p>
        </p:txBody>
      </p:sp>
    </p:spTree>
    <p:extLst>
      <p:ext uri="{BB962C8B-B14F-4D97-AF65-F5344CB8AC3E}">
        <p14:creationId xmlns:p14="http://schemas.microsoft.com/office/powerpoint/2010/main" val="1479076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652148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5839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69328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98017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92048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Linked list class</a:t>
            </a:r>
            <a:endParaRPr lang="en-US" dirty="0"/>
          </a:p>
        </p:txBody>
      </p:sp>
      <p:sp>
        <p:nvSpPr>
          <p:cNvPr id="3" name="Content Placeholder 2"/>
          <p:cNvSpPr>
            <a:spLocks noGrp="1"/>
          </p:cNvSpPr>
          <p:nvPr>
            <p:ph idx="1"/>
          </p:nvPr>
        </p:nvSpPr>
        <p:spPr/>
        <p:txBody>
          <a:bodyPr/>
          <a:lstStyle/>
          <a:p>
            <a:r>
              <a:rPr lang="en-US" dirty="0"/>
              <a:t>The </a:t>
            </a:r>
            <a:r>
              <a:rPr lang="en-US" dirty="0" err="1"/>
              <a:t>LinkedList</a:t>
            </a:r>
            <a:r>
              <a:rPr lang="en-US" dirty="0"/>
              <a:t> class in Java represents a singly linked list, a data structure composed of nodes where each node contains an item and a reference to the next node in the sequence. This linked list implementation includes basic operations such as retrieving an element at a given index (get), determining the index of a specified item (</a:t>
            </a:r>
            <a:r>
              <a:rPr lang="en-US" dirty="0" err="1"/>
              <a:t>getIndexOf</a:t>
            </a:r>
            <a:r>
              <a:rPr lang="en-US" dirty="0"/>
              <a:t>), inserting an item at the end of the list (insert), removing an item from the list (remove), checking if the list contains a specific item (contains), checking if the list is empty (</a:t>
            </a:r>
            <a:r>
              <a:rPr lang="en-US" dirty="0" err="1"/>
              <a:t>isEmpty</a:t>
            </a:r>
            <a:r>
              <a:rPr lang="en-US" dirty="0"/>
              <a:t>), and finding the middle node of the list (</a:t>
            </a:r>
            <a:r>
              <a:rPr lang="en-US" dirty="0" err="1"/>
              <a:t>getMiddle</a:t>
            </a:r>
            <a:r>
              <a:rPr lang="en-US" dirty="0"/>
              <a:t>). Additionally, the class provides methods for performing merge sort on the linked list, both based on book titles (</a:t>
            </a:r>
            <a:r>
              <a:rPr lang="en-US" dirty="0" err="1"/>
              <a:t>mergeSort</a:t>
            </a:r>
            <a:r>
              <a:rPr lang="en-US" dirty="0"/>
              <a:t>) and ISBNs (</a:t>
            </a:r>
            <a:r>
              <a:rPr lang="en-US" dirty="0" err="1"/>
              <a:t>mergeSortISBN</a:t>
            </a:r>
            <a:r>
              <a:rPr lang="en-US" dirty="0"/>
              <a:t>). The merging process is customized to compare and sort elements of type Book or User. The </a:t>
            </a:r>
            <a:r>
              <a:rPr lang="en-US" dirty="0" err="1"/>
              <a:t>toString</a:t>
            </a:r>
            <a:r>
              <a:rPr lang="en-US" dirty="0"/>
              <a:t> method generates a string representation of the linked list for convenient output. Overall, this class facilitates the manipulation and sorting of data in a linked list structure.</a:t>
            </a:r>
          </a:p>
          <a:p>
            <a:endParaRPr lang="en-US" dirty="0"/>
          </a:p>
        </p:txBody>
      </p:sp>
    </p:spTree>
    <p:extLst>
      <p:ext uri="{BB962C8B-B14F-4D97-AF65-F5344CB8AC3E}">
        <p14:creationId xmlns:p14="http://schemas.microsoft.com/office/powerpoint/2010/main" val="2028796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411382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60029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53520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1470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58911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 y="0"/>
            <a:ext cx="12192001" cy="6858000"/>
          </a:xfrm>
          <a:prstGeom prst="rect">
            <a:avLst/>
          </a:prstGeom>
        </p:spPr>
      </p:pic>
    </p:spTree>
    <p:extLst>
      <p:ext uri="{BB962C8B-B14F-4D97-AF65-F5344CB8AC3E}">
        <p14:creationId xmlns:p14="http://schemas.microsoft.com/office/powerpoint/2010/main" val="1598515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92048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391343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Loan class</a:t>
            </a:r>
            <a:endParaRPr lang="en-US" dirty="0"/>
          </a:p>
        </p:txBody>
      </p:sp>
      <p:sp>
        <p:nvSpPr>
          <p:cNvPr id="3" name="Content Placeholder 2"/>
          <p:cNvSpPr>
            <a:spLocks noGrp="1"/>
          </p:cNvSpPr>
          <p:nvPr>
            <p:ph idx="1"/>
          </p:nvPr>
        </p:nvSpPr>
        <p:spPr/>
        <p:txBody>
          <a:bodyPr/>
          <a:lstStyle/>
          <a:p>
            <a:r>
              <a:rPr lang="en-US" dirty="0"/>
              <a:t>The Loan class is a Java class that extends another class named User. It represents a loan transaction in a library system, capturing various details related to both the user and the book being borrowed. The class includes fields such as </a:t>
            </a:r>
            <a:r>
              <a:rPr lang="en-US" dirty="0" err="1"/>
              <a:t>bookId</a:t>
            </a:r>
            <a:r>
              <a:rPr lang="en-US" dirty="0"/>
              <a:t>, title, author, category, ISBN, price, </a:t>
            </a:r>
            <a:r>
              <a:rPr lang="en-US" dirty="0" err="1"/>
              <a:t>dateBorrowed</a:t>
            </a:r>
            <a:r>
              <a:rPr lang="en-US" dirty="0"/>
              <a:t>, </a:t>
            </a:r>
            <a:r>
              <a:rPr lang="en-US" dirty="0" err="1"/>
              <a:t>dateReturned</a:t>
            </a:r>
            <a:r>
              <a:rPr lang="en-US" dirty="0"/>
              <a:t>, and </a:t>
            </a:r>
            <a:r>
              <a:rPr lang="en-US" dirty="0" err="1"/>
              <a:t>daysBorrowed</a:t>
            </a:r>
            <a:r>
              <a:rPr lang="en-US" dirty="0"/>
              <a:t> to store information about the book and the loan period. Two constructors are provided to accommodate different ways of initializing the object, one using </a:t>
            </a:r>
            <a:r>
              <a:rPr lang="en-US" dirty="0" err="1"/>
              <a:t>LocalDate</a:t>
            </a:r>
            <a:r>
              <a:rPr lang="en-US" dirty="0"/>
              <a:t> for date representation and the other using Date for compatibility with older code. The class also includes getter and setter methods for accessing and modifying the private fields. Additionally, there is a method </a:t>
            </a:r>
            <a:r>
              <a:rPr lang="en-US" dirty="0" err="1"/>
              <a:t>displayLoanDetails</a:t>
            </a:r>
            <a:r>
              <a:rPr lang="en-US" dirty="0"/>
              <a:t> that prints out a formatted display of the loan information, and the </a:t>
            </a:r>
            <a:r>
              <a:rPr lang="en-US" dirty="0" err="1"/>
              <a:t>toString</a:t>
            </a:r>
            <a:r>
              <a:rPr lang="en-US" dirty="0"/>
              <a:t> method overrides the default </a:t>
            </a:r>
            <a:r>
              <a:rPr lang="en-US" dirty="0" err="1"/>
              <a:t>toString</a:t>
            </a:r>
            <a:r>
              <a:rPr lang="en-US" dirty="0"/>
              <a:t> implementation to provide a string representation of the object. Note that the class contains fields for user information, such as username, email, password, and mobile, but these fields are not initialized in the constructors, and their values are not used in the </a:t>
            </a:r>
            <a:r>
              <a:rPr lang="en-US" dirty="0" err="1"/>
              <a:t>toString</a:t>
            </a:r>
            <a:r>
              <a:rPr lang="en-US" dirty="0"/>
              <a:t> or </a:t>
            </a:r>
            <a:r>
              <a:rPr lang="en-US" dirty="0" err="1"/>
              <a:t>displayLoanDetails</a:t>
            </a:r>
            <a:r>
              <a:rPr lang="en-US" dirty="0"/>
              <a:t> methods. If user information is essential, it may need to be initialized and utilized accordingly in the class methods.</a:t>
            </a:r>
          </a:p>
          <a:p>
            <a:endParaRPr lang="en-US" dirty="0"/>
          </a:p>
        </p:txBody>
      </p:sp>
    </p:spTree>
    <p:extLst>
      <p:ext uri="{BB962C8B-B14F-4D97-AF65-F5344CB8AC3E}">
        <p14:creationId xmlns:p14="http://schemas.microsoft.com/office/powerpoint/2010/main" val="614429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258168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3196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81980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70547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628621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 books price</a:t>
            </a:r>
            <a:endParaRPr lang="en-US" dirty="0"/>
          </a:p>
        </p:txBody>
      </p:sp>
      <p:sp>
        <p:nvSpPr>
          <p:cNvPr id="3" name="Content Placeholder 2"/>
          <p:cNvSpPr>
            <a:spLocks noGrp="1"/>
          </p:cNvSpPr>
          <p:nvPr>
            <p:ph idx="1"/>
          </p:nvPr>
        </p:nvSpPr>
        <p:spPr/>
        <p:txBody>
          <a:bodyPr/>
          <a:lstStyle/>
          <a:p>
            <a:r>
              <a:rPr lang="en-US" dirty="0"/>
              <a:t>The </a:t>
            </a:r>
            <a:r>
              <a:rPr lang="en-US" dirty="0" err="1"/>
              <a:t>MergeSortBooksprice</a:t>
            </a:r>
            <a:r>
              <a:rPr lang="en-US" dirty="0"/>
              <a:t> class in Java implements the merge sort algorithm specifically tailored for a list of Book objects. The class contains a merge method responsible for merging two </a:t>
            </a:r>
            <a:r>
              <a:rPr lang="en-US" dirty="0" err="1"/>
              <a:t>sublists</a:t>
            </a:r>
            <a:r>
              <a:rPr lang="en-US" dirty="0"/>
              <a:t> of </a:t>
            </a:r>
            <a:r>
              <a:rPr lang="en-US" dirty="0" err="1"/>
              <a:t>booksList</a:t>
            </a:r>
            <a:r>
              <a:rPr lang="en-US" dirty="0"/>
              <a:t> during the sorting process. It calculates the sizes of the two </a:t>
            </a:r>
            <a:r>
              <a:rPr lang="en-US" dirty="0" err="1"/>
              <a:t>sublists</a:t>
            </a:r>
            <a:r>
              <a:rPr lang="en-US" dirty="0"/>
              <a:t>, creates temporary lists (</a:t>
            </a:r>
            <a:r>
              <a:rPr lang="en-US" dirty="0" err="1"/>
              <a:t>leftList</a:t>
            </a:r>
            <a:r>
              <a:rPr lang="en-US" dirty="0"/>
              <a:t> and </a:t>
            </a:r>
            <a:r>
              <a:rPr lang="en-US" dirty="0" err="1"/>
              <a:t>rightList</a:t>
            </a:r>
            <a:r>
              <a:rPr lang="en-US" dirty="0"/>
              <a:t>) to hold the </a:t>
            </a:r>
            <a:r>
              <a:rPr lang="en-US" dirty="0" err="1"/>
              <a:t>sublists</a:t>
            </a:r>
            <a:r>
              <a:rPr lang="en-US" dirty="0"/>
              <a:t>, and then iterates through both </a:t>
            </a:r>
            <a:r>
              <a:rPr lang="en-US" dirty="0" err="1"/>
              <a:t>sublists</a:t>
            </a:r>
            <a:r>
              <a:rPr lang="en-US" dirty="0"/>
              <a:t>, comparing the prices of books. It merges the </a:t>
            </a:r>
            <a:r>
              <a:rPr lang="en-US" dirty="0" err="1"/>
              <a:t>sublists</a:t>
            </a:r>
            <a:r>
              <a:rPr lang="en-US" dirty="0"/>
              <a:t> back into the main list (</a:t>
            </a:r>
            <a:r>
              <a:rPr lang="en-US" dirty="0" err="1"/>
              <a:t>booksList</a:t>
            </a:r>
            <a:r>
              <a:rPr lang="en-US" dirty="0"/>
              <a:t>) in ascending order of book prices. The class leverages indices </a:t>
            </a:r>
            <a:r>
              <a:rPr lang="en-US" dirty="0" err="1"/>
              <a:t>i</a:t>
            </a:r>
            <a:r>
              <a:rPr lang="en-US" dirty="0"/>
              <a:t>, j, and k to traverse the left </a:t>
            </a:r>
            <a:r>
              <a:rPr lang="en-US" dirty="0" err="1"/>
              <a:t>sublist</a:t>
            </a:r>
            <a:r>
              <a:rPr lang="en-US" dirty="0"/>
              <a:t>, right </a:t>
            </a:r>
            <a:r>
              <a:rPr lang="en-US" dirty="0" err="1"/>
              <a:t>sublist</a:t>
            </a:r>
            <a:r>
              <a:rPr lang="en-US" dirty="0"/>
              <a:t>, and the main list, respectively. This implementation ensures that the original </a:t>
            </a:r>
            <a:r>
              <a:rPr lang="en-US" dirty="0" err="1"/>
              <a:t>booksList</a:t>
            </a:r>
            <a:r>
              <a:rPr lang="en-US" dirty="0"/>
              <a:t> is sorted based on the price attribute of the Book objects. It's important to note that this class assumes the existence of a Book class with a </a:t>
            </a:r>
            <a:r>
              <a:rPr lang="en-US" dirty="0" err="1"/>
              <a:t>getPrice</a:t>
            </a:r>
            <a:r>
              <a:rPr lang="en-US" dirty="0"/>
              <a:t> method, and the sorting is done in ascending order.</a:t>
            </a:r>
          </a:p>
          <a:p>
            <a:endParaRPr lang="en-US" dirty="0"/>
          </a:p>
        </p:txBody>
      </p:sp>
    </p:spTree>
    <p:extLst>
      <p:ext uri="{BB962C8B-B14F-4D97-AF65-F5344CB8AC3E}">
        <p14:creationId xmlns:p14="http://schemas.microsoft.com/office/powerpoint/2010/main" val="853222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75592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4018599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class</a:t>
            </a:r>
            <a:endParaRPr lang="en-US" dirty="0"/>
          </a:p>
        </p:txBody>
      </p:sp>
      <p:sp>
        <p:nvSpPr>
          <p:cNvPr id="3" name="Content Placeholder 2"/>
          <p:cNvSpPr>
            <a:spLocks noGrp="1"/>
          </p:cNvSpPr>
          <p:nvPr>
            <p:ph idx="1"/>
          </p:nvPr>
        </p:nvSpPr>
        <p:spPr/>
        <p:txBody>
          <a:bodyPr/>
          <a:lstStyle/>
          <a:p>
            <a:r>
              <a:rPr lang="en-US" dirty="0"/>
              <a:t>The Node class is a basic implementation of a singly linked list node in Java. Each node in the linked list contains an item of type Object and a reference to the next node in the sequence (next). The equals method is overridden to compare two Node objects for equality. In the overridden equals method, the equality is checked based on both the item and the next reference of each node. The equals method first compares the item of the current node with the item of the provided node and then recursively compares the next references. This implementation ensures that two nodes are considered equal if their corresponding items and the structure of subsequent nodes in the linked list are identical. It's worth noting that for this equality check to work correctly, the equals method of the Object class must be properly implemented for the type of objects stored in the item field. Additionally, this implementation assumes that the linked list is singly linked, meaning each node points to the next node but not the previous one.</a:t>
            </a:r>
          </a:p>
          <a:p>
            <a:endParaRPr lang="en-US" dirty="0"/>
          </a:p>
        </p:txBody>
      </p:sp>
    </p:spTree>
    <p:extLst>
      <p:ext uri="{BB962C8B-B14F-4D97-AF65-F5344CB8AC3E}">
        <p14:creationId xmlns:p14="http://schemas.microsoft.com/office/powerpoint/2010/main" val="3009338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86920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Request class</a:t>
            </a:r>
            <a:endParaRPr lang="en-US" dirty="0"/>
          </a:p>
        </p:txBody>
      </p:sp>
      <p:sp>
        <p:nvSpPr>
          <p:cNvPr id="3" name="Content Placeholder 2"/>
          <p:cNvSpPr>
            <a:spLocks noGrp="1"/>
          </p:cNvSpPr>
          <p:nvPr>
            <p:ph idx="1"/>
          </p:nvPr>
        </p:nvSpPr>
        <p:spPr/>
        <p:txBody>
          <a:bodyPr/>
          <a:lstStyle/>
          <a:p>
            <a:r>
              <a:rPr lang="en-US" dirty="0"/>
              <a:t>The Request class in Java represents a user's request to borrow a book in a library system. It has private fields for the requesting user's username, the desired title of the book, and the date when the request is made, stored as a </a:t>
            </a:r>
            <a:r>
              <a:rPr lang="en-US" dirty="0" err="1"/>
              <a:t>LocalDate</a:t>
            </a:r>
            <a:r>
              <a:rPr lang="en-US" dirty="0"/>
              <a:t> object. The class provides a constructor that initializes the username, title, and date based on the parameters passed during object creation. Accessor and </a:t>
            </a:r>
            <a:r>
              <a:rPr lang="en-US" dirty="0" err="1"/>
              <a:t>mutator</a:t>
            </a:r>
            <a:r>
              <a:rPr lang="en-US" dirty="0"/>
              <a:t> methods (</a:t>
            </a:r>
            <a:r>
              <a:rPr lang="en-US" dirty="0" err="1"/>
              <a:t>getUsername</a:t>
            </a:r>
            <a:r>
              <a:rPr lang="en-US" dirty="0"/>
              <a:t>, </a:t>
            </a:r>
            <a:r>
              <a:rPr lang="en-US" dirty="0" err="1"/>
              <a:t>setUsername</a:t>
            </a:r>
            <a:r>
              <a:rPr lang="en-US" dirty="0"/>
              <a:t>, </a:t>
            </a:r>
            <a:r>
              <a:rPr lang="en-US" dirty="0" err="1"/>
              <a:t>getTitle</a:t>
            </a:r>
            <a:r>
              <a:rPr lang="en-US" dirty="0"/>
              <a:t>, </a:t>
            </a:r>
            <a:r>
              <a:rPr lang="en-US" dirty="0" err="1"/>
              <a:t>setTitle</a:t>
            </a:r>
            <a:r>
              <a:rPr lang="en-US" dirty="0"/>
              <a:t>, </a:t>
            </a:r>
            <a:r>
              <a:rPr lang="en-US" dirty="0" err="1"/>
              <a:t>getDate</a:t>
            </a:r>
            <a:r>
              <a:rPr lang="en-US" dirty="0"/>
              <a:t>, and </a:t>
            </a:r>
            <a:r>
              <a:rPr lang="en-US" dirty="0" err="1"/>
              <a:t>setDate</a:t>
            </a:r>
            <a:r>
              <a:rPr lang="en-US" dirty="0"/>
              <a:t>) are included to retrieve and modify the values of these fields. Additionally, the class overrides the </a:t>
            </a:r>
            <a:r>
              <a:rPr lang="en-US" dirty="0" err="1"/>
              <a:t>toString</a:t>
            </a:r>
            <a:r>
              <a:rPr lang="en-US" dirty="0"/>
              <a:t> method to generate a formatted string representation of the request, including the username, book title, and date. Overall, the Request class encapsulates the essential information related to a user's request for a book, providing a clear and organized way to manage and display request details within a library system.</a:t>
            </a:r>
          </a:p>
          <a:p>
            <a:endParaRPr lang="en-US" dirty="0"/>
          </a:p>
        </p:txBody>
      </p:sp>
    </p:spTree>
    <p:extLst>
      <p:ext uri="{BB962C8B-B14F-4D97-AF65-F5344CB8AC3E}">
        <p14:creationId xmlns:p14="http://schemas.microsoft.com/office/powerpoint/2010/main" val="1810313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37005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41350202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class</a:t>
            </a:r>
            <a:endParaRPr lang="en-US" dirty="0"/>
          </a:p>
        </p:txBody>
      </p:sp>
      <p:sp>
        <p:nvSpPr>
          <p:cNvPr id="3" name="Content Placeholder 2"/>
          <p:cNvSpPr>
            <a:spLocks noGrp="1"/>
          </p:cNvSpPr>
          <p:nvPr>
            <p:ph idx="1"/>
          </p:nvPr>
        </p:nvSpPr>
        <p:spPr/>
        <p:txBody>
          <a:bodyPr/>
          <a:lstStyle/>
          <a:p>
            <a:r>
              <a:rPr lang="en-US" dirty="0"/>
              <a:t>The Search class in Java appears to be a simple class with a private field, scanner, which is an instance of the Scanner class. The Scanner class is commonly used to obtain user input from the console. However, as it stands, the Search class itself does not contain any specific functionality or methods. It may be intended to be extended or used as a utility class for handling search-related functionality in a larger program. The absence of methods or further implementation details makes it challenging to provide a comprehensive explanation of the class's purpose. To enhance its functionality, one might consider adding methods for handling different search operations, taking advantage of the Scanner instance for user input.</a:t>
            </a:r>
            <a:endParaRPr lang="en-US" dirty="0"/>
          </a:p>
        </p:txBody>
      </p:sp>
    </p:spTree>
    <p:extLst>
      <p:ext uri="{BB962C8B-B14F-4D97-AF65-F5344CB8AC3E}">
        <p14:creationId xmlns:p14="http://schemas.microsoft.com/office/powerpoint/2010/main" val="26089029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049903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Sort members by name class</a:t>
            </a:r>
            <a:endParaRPr lang="en-US" dirty="0"/>
          </a:p>
        </p:txBody>
      </p:sp>
      <p:sp>
        <p:nvSpPr>
          <p:cNvPr id="3" name="Content Placeholder 2"/>
          <p:cNvSpPr>
            <a:spLocks noGrp="1"/>
          </p:cNvSpPr>
          <p:nvPr>
            <p:ph idx="1"/>
          </p:nvPr>
        </p:nvSpPr>
        <p:spPr/>
        <p:txBody>
          <a:bodyPr/>
          <a:lstStyle/>
          <a:p>
            <a:r>
              <a:rPr lang="en-US" dirty="0"/>
              <a:t>The </a:t>
            </a:r>
            <a:r>
              <a:rPr lang="en-US" dirty="0" err="1"/>
              <a:t>SortMembersByName</a:t>
            </a:r>
            <a:r>
              <a:rPr lang="en-US" dirty="0"/>
              <a:t> class in Java is designed to retrieve user information from a database table named </a:t>
            </a:r>
            <a:r>
              <a:rPr lang="en-US" dirty="0" err="1"/>
              <a:t>book_you_are_borrowed</a:t>
            </a:r>
            <a:r>
              <a:rPr lang="en-US" dirty="0"/>
              <a:t> and sort the users based on their usernames. The class establishes a connection to a MySQL database, executes a SQL query to retrieve user data, and then constructs User objects with the fetched information. The users are stored in a List&lt;User&gt; named users. Subsequently, the class utilizes the </a:t>
            </a:r>
            <a:r>
              <a:rPr lang="en-US" dirty="0" err="1"/>
              <a:t>Collections.sort</a:t>
            </a:r>
            <a:r>
              <a:rPr lang="en-US" dirty="0"/>
              <a:t> method along with a Comparator to sort the user list based on their usernames in ascending order. The sorting logic is specified using the </a:t>
            </a:r>
            <a:r>
              <a:rPr lang="en-US" dirty="0" err="1"/>
              <a:t>Comparator.comparing</a:t>
            </a:r>
            <a:r>
              <a:rPr lang="en-US" dirty="0"/>
              <a:t>(User::</a:t>
            </a:r>
            <a:r>
              <a:rPr lang="en-US" dirty="0" err="1"/>
              <a:t>getUsername</a:t>
            </a:r>
            <a:r>
              <a:rPr lang="en-US" dirty="0"/>
              <a:t>) expression, indicating that the sorting should be done based on the </a:t>
            </a:r>
            <a:r>
              <a:rPr lang="en-US" dirty="0" err="1"/>
              <a:t>getUsername</a:t>
            </a:r>
            <a:r>
              <a:rPr lang="en-US" dirty="0"/>
              <a:t> method of the User class. The sorted list of users is then returned. It's important to note that this class assumes the existence of a User class with appropriate methods for retrieving and comparing usernames. Additionally, it relies on a specific database schema and connection details for the </a:t>
            </a:r>
            <a:r>
              <a:rPr lang="en-US" dirty="0" err="1"/>
              <a:t>book_you_are_borrowed</a:t>
            </a:r>
            <a:r>
              <a:rPr lang="en-US" dirty="0"/>
              <a:t> table in the MySQL database.</a:t>
            </a:r>
            <a:endParaRPr lang="en-US" dirty="0"/>
          </a:p>
        </p:txBody>
      </p:sp>
    </p:spTree>
    <p:extLst>
      <p:ext uri="{BB962C8B-B14F-4D97-AF65-F5344CB8AC3E}">
        <p14:creationId xmlns:p14="http://schemas.microsoft.com/office/powerpoint/2010/main" val="18762316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7999"/>
          </a:xfrm>
          <a:prstGeom prst="rect">
            <a:avLst/>
          </a:prstGeom>
        </p:spPr>
      </p:pic>
    </p:spTree>
    <p:extLst>
      <p:ext uri="{BB962C8B-B14F-4D97-AF65-F5344CB8AC3E}">
        <p14:creationId xmlns:p14="http://schemas.microsoft.com/office/powerpoint/2010/main" val="20968292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Start page class</a:t>
            </a:r>
            <a:endParaRPr lang="en-US" dirty="0"/>
          </a:p>
        </p:txBody>
      </p:sp>
      <p:sp>
        <p:nvSpPr>
          <p:cNvPr id="3" name="Content Placeholder 2"/>
          <p:cNvSpPr>
            <a:spLocks noGrp="1"/>
          </p:cNvSpPr>
          <p:nvPr>
            <p:ph idx="1"/>
          </p:nvPr>
        </p:nvSpPr>
        <p:spPr/>
        <p:txBody>
          <a:bodyPr/>
          <a:lstStyle/>
          <a:p>
            <a:r>
              <a:rPr lang="en-US" dirty="0"/>
              <a:t>The </a:t>
            </a:r>
            <a:r>
              <a:rPr lang="en-US" dirty="0" err="1"/>
              <a:t>StartPage</a:t>
            </a:r>
            <a:r>
              <a:rPr lang="en-US" dirty="0"/>
              <a:t> class in Java is designed to serve as the entry point for a simple library system. It contains a nested public class named </a:t>
            </a:r>
            <a:r>
              <a:rPr lang="en-US" dirty="0" err="1"/>
              <a:t>start_page</a:t>
            </a:r>
            <a:r>
              <a:rPr lang="en-US" dirty="0"/>
              <a:t> with a main method. The main method utilizes Swing's </a:t>
            </a:r>
            <a:r>
              <a:rPr lang="en-US" dirty="0" err="1"/>
              <a:t>JOptionPane</a:t>
            </a:r>
            <a:r>
              <a:rPr lang="en-US" dirty="0"/>
              <a:t> to display a welcome message to the user. It then enters a perpetual loop where the user is presented with a dialog box prompting them to choose an option: "library Interface," "user (member) Interface," or "Exit." Depending on the user's choice, the program either invokes the </a:t>
            </a:r>
            <a:r>
              <a:rPr lang="en-US" dirty="0" err="1"/>
              <a:t>runMemberInterface</a:t>
            </a:r>
            <a:r>
              <a:rPr lang="en-US" dirty="0"/>
              <a:t> method (assuming it is intended to be part of the </a:t>
            </a:r>
            <a:r>
              <a:rPr lang="en-US" dirty="0" err="1"/>
              <a:t>StartPage</a:t>
            </a:r>
            <a:r>
              <a:rPr lang="en-US" dirty="0"/>
              <a:t> class), exits the program with a goodbye message, or displays an error message for an invalid choice. However, there seems to be a logical issue in the code where both the "library Interface" and "user (member) Interface" options lead to the same method (</a:t>
            </a:r>
            <a:r>
              <a:rPr lang="en-US" dirty="0" err="1"/>
              <a:t>runMemberInterface</a:t>
            </a:r>
            <a:r>
              <a:rPr lang="en-US" dirty="0"/>
              <a:t>). This may need to be corrected based on the intended behavior. Additionally, it's worth noting that the perpetual loop could potentially lead to an infinite execution, and a mechanism to exit the loop (and the program) is triggered only by the "Exit" option.</a:t>
            </a:r>
          </a:p>
          <a:p>
            <a:endParaRPr lang="en-US" dirty="0"/>
          </a:p>
        </p:txBody>
      </p:sp>
    </p:spTree>
    <p:extLst>
      <p:ext uri="{BB962C8B-B14F-4D97-AF65-F5344CB8AC3E}">
        <p14:creationId xmlns:p14="http://schemas.microsoft.com/office/powerpoint/2010/main" val="10700870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56042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65802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class</a:t>
            </a:r>
            <a:endParaRPr lang="en-US" dirty="0"/>
          </a:p>
        </p:txBody>
      </p:sp>
      <p:sp>
        <p:nvSpPr>
          <p:cNvPr id="3" name="Content Placeholder 2"/>
          <p:cNvSpPr>
            <a:spLocks noGrp="1"/>
          </p:cNvSpPr>
          <p:nvPr>
            <p:ph idx="1"/>
          </p:nvPr>
        </p:nvSpPr>
        <p:spPr/>
        <p:txBody>
          <a:bodyPr/>
          <a:lstStyle/>
          <a:p>
            <a:r>
              <a:rPr lang="en-US" dirty="0"/>
              <a:t>The User class in Java represents a user within a library system, with attributes including a unique loan identifier (</a:t>
            </a:r>
            <a:r>
              <a:rPr lang="en-US" dirty="0" err="1"/>
              <a:t>loanId</a:t>
            </a:r>
            <a:r>
              <a:rPr lang="en-US" dirty="0"/>
              <a:t>), a username, email, password, and mobile number. The class provides two constructors—one for creating a user without a loan identifier and another for a user with a loan identifier. It includes getter and setter methods for each attribute, allowing for the retrieval and modification of user information. The </a:t>
            </a:r>
            <a:r>
              <a:rPr lang="en-US" dirty="0" err="1"/>
              <a:t>toString</a:t>
            </a:r>
            <a:r>
              <a:rPr lang="en-US" dirty="0"/>
              <a:t> method is overridden to generate a string representation of a user, including details such as loan ID, username, email, password, and mobile number. This class serves as a basic structure for storing and managing user information within a library system, providing a convenient way to encapsulate and manipulate user </a:t>
            </a:r>
            <a:r>
              <a:rPr lang="en-US" dirty="0" smtClean="0"/>
              <a:t>date</a:t>
            </a:r>
            <a:endParaRPr lang="en-US" dirty="0"/>
          </a:p>
          <a:p>
            <a:endParaRPr lang="en-US" dirty="0"/>
          </a:p>
        </p:txBody>
      </p:sp>
    </p:spTree>
    <p:extLst>
      <p:ext uri="{BB962C8B-B14F-4D97-AF65-F5344CB8AC3E}">
        <p14:creationId xmlns:p14="http://schemas.microsoft.com/office/powerpoint/2010/main" val="26883126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7999"/>
          </a:xfrm>
          <a:prstGeom prst="rect">
            <a:avLst/>
          </a:prstGeom>
        </p:spPr>
      </p:pic>
    </p:spTree>
    <p:extLst>
      <p:ext uri="{BB962C8B-B14F-4D97-AF65-F5344CB8AC3E}">
        <p14:creationId xmlns:p14="http://schemas.microsoft.com/office/powerpoint/2010/main" val="253957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9790726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8902612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169</TotalTime>
  <Words>2115</Words>
  <Application>Microsoft Office PowerPoint</Application>
  <PresentationFormat>Widescreen</PresentationFormat>
  <Paragraphs>30</Paragraphs>
  <Slides>53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Calibri</vt:lpstr>
      <vt:lpstr>Calibri Light</vt:lpstr>
      <vt:lpstr>Retrospect</vt:lpstr>
      <vt:lpstr>Data structure project report</vt:lpstr>
      <vt:lpstr>Book class</vt:lpstr>
      <vt:lpstr>PowerPoint Presentation</vt:lpstr>
      <vt:lpstr>PowerPoint Presentation</vt:lpstr>
      <vt:lpstr>PowerPoint Presentation</vt:lpstr>
      <vt:lpstr>PowerPoint Presentation</vt:lpstr>
      <vt:lpstr>PowerPoint Presentation</vt:lpstr>
      <vt:lpstr>PowerPoint Presentation</vt:lpstr>
      <vt:lpstr>Catalog class</vt:lpstr>
      <vt:lpstr>PowerPoint Presentation</vt:lpstr>
      <vt:lpstr>PowerPoint Presentation</vt:lpstr>
      <vt:lpstr>PowerPoint Presentation</vt:lpstr>
      <vt:lpstr>PowerPoint Presentation</vt:lpstr>
      <vt:lpstr>Database connection</vt:lpstr>
      <vt:lpstr>PowerPoint Presentation</vt:lpstr>
      <vt:lpstr>PowerPoint Presentation</vt:lpstr>
      <vt:lpstr>PowerPoint Presentation</vt:lpstr>
      <vt:lpstr>PowerPoint Presentation</vt:lpstr>
      <vt:lpstr>PowerPoint Presentation</vt:lpstr>
      <vt:lpstr>Linked list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Loan class</vt:lpstr>
      <vt:lpstr>PowerPoint Presentation</vt:lpstr>
      <vt:lpstr>PowerPoint Presentation</vt:lpstr>
      <vt:lpstr>PowerPoint Presentation</vt:lpstr>
      <vt:lpstr>PowerPoint Presentation</vt:lpstr>
      <vt:lpstr>PowerPoint Presentation</vt:lpstr>
      <vt:lpstr>Merge sort books price</vt:lpstr>
      <vt:lpstr>PowerPoint Presentation</vt:lpstr>
      <vt:lpstr>PowerPoint Presentation</vt:lpstr>
      <vt:lpstr>Node class</vt:lpstr>
      <vt:lpstr>PowerPoint Presentation</vt:lpstr>
      <vt:lpstr>Request class</vt:lpstr>
      <vt:lpstr>PowerPoint Presentation</vt:lpstr>
      <vt:lpstr>PowerPoint Presentation</vt:lpstr>
      <vt:lpstr>Search class</vt:lpstr>
      <vt:lpstr>PowerPoint Presentation</vt:lpstr>
      <vt:lpstr>Sort members by name class</vt:lpstr>
      <vt:lpstr>PowerPoint Presentation</vt:lpstr>
      <vt:lpstr>Start page class</vt:lpstr>
      <vt:lpstr>PowerPoint Presentation</vt:lpstr>
      <vt:lpstr>PowerPoint Presentation</vt:lpstr>
      <vt:lpstr>User class</vt:lpstr>
      <vt:lpstr>PowerPoint Presentation</vt:lpstr>
      <vt:lpstr>PowerPoint Presentation</vt:lpstr>
      <vt:lpstr>PowerPoint Presentation</vt:lpstr>
    </vt:vector>
  </TitlesOfParts>
  <Company>Oprekin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Tasneem Ibrahim Hassan Mohamed Taha</dc:creator>
  <cp:lastModifiedBy>Tasneem Ibrahim Hassan Mohamed Taha</cp:lastModifiedBy>
  <cp:revision>19</cp:revision>
  <dcterms:created xsi:type="dcterms:W3CDTF">2023-12-24T21:42:45Z</dcterms:created>
  <dcterms:modified xsi:type="dcterms:W3CDTF">2023-12-25T06:32:07Z</dcterms:modified>
</cp:coreProperties>
</file>